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Трудный ролик (TUD-Campus)</c:v>
                </c:pt>
              </c:strCache>
            </c:strRef>
          </c:tx>
          <c:spPr>
            <a:solidFill>
              <a:srgbClr val="DD4B3E"/>
            </a:solidFill>
            <a:ln w="50800" cap="flat">
              <a:solidFill>
                <a:srgbClr val="DD4B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D4B3E"/>
              </a:solidFill>
              <a:ln w="9525" cap="flat">
                <a:solidFill>
                  <a:srgbClr val="DD4B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0.15</c:v>
                  </c:pt>
                  <c:pt idx="1">
                    <c:v>0.25</c:v>
                  </c:pt>
                  <c:pt idx="2">
                    <c:v>0.35</c:v>
                  </c:pt>
                  <c:pt idx="3">
                    <c:v>0.45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32.5</c:v>
                </c:pt>
                <c:pt idx="1">
                  <c:v>35.1</c:v>
                </c:pt>
                <c:pt idx="2">
                  <c:v>35.9</c:v>
                </c:pt>
                <c:pt idx="3">
                  <c:v>46.3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Лёгкий ролик (PETS09)</c:v>
                </c:pt>
              </c:strCache>
            </c:strRef>
          </c:tx>
          <c:spPr>
            <a:solidFill>
              <a:srgbClr val="17B3A3"/>
            </a:solidFill>
            <a:ln w="50800" cap="flat">
              <a:solidFill>
                <a:srgbClr val="17B3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B3A3"/>
              </a:solidFill>
              <a:ln w="9525" cap="flat">
                <a:solidFill>
                  <a:srgbClr val="17B3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0.15</c:v>
                  </c:pt>
                  <c:pt idx="1">
                    <c:v>0.25</c:v>
                  </c:pt>
                  <c:pt idx="2">
                    <c:v>0.35</c:v>
                  </c:pt>
                  <c:pt idx="3">
                    <c:v>0.45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</c:v>
                </c:pt>
                <c:pt idx="1">
                  <c:v>60.1</c:v>
                </c:pt>
                <c:pt idx="2">
                  <c:v>60</c:v>
                </c:pt>
                <c:pt idx="3">
                  <c:v>59.6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B7A"/>
                    </a:solidFill>
                    <a:latin typeface="Arial"/>
                  </a:rPr>
                  <a:t>порог уверенности детектора  (влево = больше рамок)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2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B7A"/>
                    </a:solidFill>
                    <a:latin typeface="Arial"/>
                  </a:rPr>
                  <a:t>качество (HOTA)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242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без фильтра</c:v>
                </c:pt>
              </c:strCache>
            </c:strRef>
          </c:tx>
          <c:spPr>
            <a:solidFill>
              <a:srgbClr val="DD4B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TUD-Campus</c:v>
                  </c:pt>
                  <c:pt idx="1">
                    <c:v>KITTI-17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35.1</c:v>
                </c:pt>
                <c:pt idx="1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фильтр восстановлен</c:v>
                </c:pt>
              </c:strCache>
            </c:strRef>
          </c:tx>
          <c:spPr>
            <a:solidFill>
              <a:srgbClr val="17B3A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TUD-Campus</c:v>
                  </c:pt>
                  <c:pt idx="1">
                    <c:v>KITTI-17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39.2</c:v>
                </c:pt>
                <c:pt idx="1">
                  <c:v>46.8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624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242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Завязка: мы взяли классический трекер DeepSORT (2017) и обновили в нём детали. Это история-расследование о том, как 'улучшение' дало неожиданный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Объясняем задачу на бытовом языке. Трекинг = следить за каждым в толпе. Три части: глаз/память/интуиция = детектор/внешность/движение.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части трекера + ключевой герой: 'страж' (фильтр уверенности + NMS) на входе. Он пропускает только надёжные рамки. Это завязка детектива.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Модернизация: YOLOv8 + OSNet. В среднем HOTA 40.2 -&gt; 52.6 (+12). Ожидаемо. Но среднее прячет сюрприз — переход к следующему слайду.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Кульминация-загадка: на TUD-Campus 39.9 -&gt; 35.1 (хуже 2017!). Вопрос слайда: как новый детектор сделал хуже? Это и есть детектив.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Центральный слайд с реальными кадрами. Слева (без фильтра) видны дублирующие рамки на одном человеке -&gt; фантомные треки. Справа чисто. Это и есть 'больше детекций вредит'.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Механизм: дропнутый страж. Без фильтра ложные рамки заводят фантомные треки. Схема: детектор -&gt; [страж вкл/выкл] -&gt; трекер. Разница только в допуске.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Доказательство 1: качество vs порог. Трудный ролик круто растёт с порогом (значит на низком пороге он плох); лёгкий почти плоский. На всех 6 — выше порог не хуже. 'Больше детекций не помогает.'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Доказательство 2: 'money plot'. Точность детектора предсказывает величину ущерба, r=-0.91. Важно проговорить честность: n=6, это гипотеза, не закон (так в статье).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Лечение: восстановить фильтр (+3.4 на плотных) и настроить порог под ролик — худший ролик из -4.7 к базлайну выходит в +6.4. Простая 'политика допуска', без смены детектора.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Поворот и научная честность: это аудит, не новый метод. Гейт уже есть у ByteTrack/BoT-SORT как гиперпараметр. Наш вклад — показать тихую потерю при модернизации. Отличие от ByteTrack проговорить.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Бонус: прирост детекторо-доминирован (DetA +12.3 vs AssA +6.3). Под GT-рамками простой бэкбон ~ дотягивает до OSNet (89.9 vs 89.2). 'Память' почти бесплатна при идеальных рамках. Подкреплено прежними работами (HOTA-статья).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 для всех: больше данных не значит лучше; качество входа &gt; количество. Меняя деталь — проверь правила допуска. Финальные цифры.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>
              <a:alpha val="8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601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ОДНОГО БАГА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Точность на входе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обновление трекера сделало его хуже —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что это объясняет про любые данные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статье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«Precision at the Gate»</a:t>
            </a:r>
            <a:pPr algn="l" indent="0" marL="0">
              <a:buNone/>
            </a:pPr>
            <a:r>
              <a:rPr lang="en-US" sz="13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модернизированный DeepSORT   ·   Сергей Соловьёв, НИУ ВШЭ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31059" cy="402336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5310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ВСЁ НАЧИНАЕТСЯ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вообще делает трекер?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видит толпу. Задача — </a:t>
            </a:r>
            <a:pPr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C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вести каждого человека</a:t>
            </a:r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нарисовать рамку и держать за ним один и тот же номер, кадр за кадром.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 охранника по камерам наблюдения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C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людей в кадре (детектор).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C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узнаёт «это тот же человек» (внешность).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C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Интуиция: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предсказывает, куда он шагнёт (движение).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38544" y="1929384"/>
            <a:ext cx="5010912" cy="2889504"/>
          </a:xfrm>
          <a:prstGeom prst="roundRect">
            <a:avLst>
              <a:gd name="adj" fmla="val 22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pic>
        <p:nvPicPr>
          <p:cNvPr id="10" name="Image 0" descr="C:/Users/sssol/AppData/Local/Temp/claude/C--DL-for-CV/28917430-7293-4c75-9434-84bc2214ec98/scratchpad/assets/frame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011680"/>
            <a:ext cx="4846320" cy="2724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20840" y="48646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кадр из теста (MOT16-09): прямоугольники — это «бирки» на людях.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входе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аудит модернизированного DeepSORT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44752" cy="402336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Внутри трекера — и невидимый «страж на входе»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286000"/>
            <a:ext cx="566928" cy="566928"/>
          </a:xfrm>
          <a:prstGeom prst="ellipse">
            <a:avLst/>
          </a:prstGeom>
          <a:solidFill>
            <a:srgbClr val="17B3A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Детектор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2971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кадр предлагает рамки: «вот тут, кажется, человек».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2286000"/>
            <a:ext cx="566928" cy="566928"/>
          </a:xfrm>
          <a:prstGeom prst="ellipse">
            <a:avLst/>
          </a:prstGeom>
          <a:solidFill>
            <a:srgbClr val="17B3A3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924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Внешность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6008" y="2971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Сравнивает «лица/одежду», чтобы не перепутать людей.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286000"/>
            <a:ext cx="566928" cy="566928"/>
          </a:xfrm>
          <a:prstGeom prst="ellipse">
            <a:avLst/>
          </a:prstGeom>
          <a:solidFill>
            <a:srgbClr val="17B3A3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5256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Движение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39328" y="2971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Предсказывает следующий шаг и сшивает рамки в траектории.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908792" cy="1600200"/>
          </a:xfrm>
          <a:prstGeom prst="roundRect">
            <a:avLst>
              <a:gd name="adj" fmla="val 5143"/>
            </a:avLst>
          </a:prstGeom>
          <a:solidFill>
            <a:srgbClr val="0E1A2B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" y="470916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E0902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709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СТРАЖ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74720" y="4572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ещё есть фильтр на входе.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трекера он отсекал неуверенные и дублирующие рамки — пропускал только надёжные. Запомните его: с него начнётся вся интрига.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входе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аудит модернизированного DeepSORT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43507" cy="402336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435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Берём трекер 2017 года и ставим современные детали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→ </a:t>
            </a:r>
            <a:pPr indent="0" marL="0">
              <a:buNone/>
            </a:pPr>
            <a:r>
              <a:rPr lang="en-US" sz="17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(2023)</a:t>
            </a:r>
            <a:pPr indent="0" marL="0">
              <a:buNone/>
            </a:pPr>
            <a:r>
              <a:rPr lang="en-US" sz="17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Внешность → </a:t>
            </a:r>
            <a:pPr indent="0" marL="0">
              <a:buNone/>
            </a:pPr>
            <a:r>
              <a:rPr lang="en-US" sz="17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OSNet (2019)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трекера не трогаем. Детали новее почти на десятилетие. Ожидание очевидное: станет лучше.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90879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среднем по 6 видео — ожидание сбылось: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526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1051560" y="53675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(HOTA)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 DeepSORT, 2017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4892040"/>
            <a:ext cx="1005840" cy="0"/>
          </a:xfrm>
          <a:prstGeom prst="line">
            <a:avLst/>
          </a:prstGeom>
          <a:noFill/>
          <a:ln w="38100">
            <a:solidFill>
              <a:srgbClr val="17B3A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577840" y="4526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C75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52.6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577840" y="53675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модернизации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(средний прирост +12)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0" y="4526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«Сильнее детектор + сильнее память = лучше трекер.»  </a:t>
            </a:r>
            <a:pPr indent="0" marL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E0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Скучно и предсказуемо. Но это не вся правда…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входе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аудит модернизированного DeepSORT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48486" cy="402336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1484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СЮРПРИЗ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самом трудном ролике стало ХУЖЕ, чем в 2017-м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скрывает провал. На плотной сцене TUD-Campus новейший детектор сделал трекер хуже версии восьмилетней давности: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6035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3794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39.9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051560" y="46360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 2017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4297680"/>
            <a:ext cx="914400" cy="0"/>
          </a:xfrm>
          <a:prstGeom prst="line">
            <a:avLst/>
          </a:prstGeom>
          <a:noFill/>
          <a:ln w="38100">
            <a:solidFill>
              <a:srgbClr val="DD4B3E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480560" y="3794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DD4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35.1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480560" y="46360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«улучшенный» 2025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1560" y="52120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BE3E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212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4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−4.7  качества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0920" y="3429000"/>
            <a:ext cx="4206240" cy="2468880"/>
          </a:xfrm>
          <a:prstGeom prst="roundRect">
            <a:avLst>
              <a:gd name="adj" fmla="val 3333"/>
            </a:avLst>
          </a:prstGeom>
          <a:solidFill>
            <a:srgbClr val="0E1A2B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3429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09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1000" dirty="0"/>
          </a:p>
        </p:txBody>
      </p:sp>
      <p:sp>
        <p:nvSpPr>
          <p:cNvPr id="16" name="Text 14"/>
          <p:cNvSpPr/>
          <p:nvPr/>
        </p:nvSpPr>
        <p:spPr>
          <a:xfrm>
            <a:off x="7635240" y="4846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более новый и более точный детектор мог СНИЗИТЬ качество?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входе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аудит модернизированного DeepSORT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47242" cy="402336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472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РАЗГАДКА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Больше рамок — не значит лучше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кадр, два прогона. Слева детектор «жадный» — лезут лишние и дублирующие рамки; справа фильтр пропускает только надёжные.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DD4B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ФИЛЬТРА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" y="2980944"/>
            <a:ext cx="5239512" cy="2816352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pic>
        <p:nvPicPr>
          <p:cNvPr id="9" name="Image 0" descr="C:/Users/sssol/AppData/Local/Temp/claude/C--DL-for-CV/28917430-7293-4c75-9434-84bc2214ec98/scratchpad/frames/zoom_baseline_idx02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63240"/>
            <a:ext cx="5074920" cy="2651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65392" y="26060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11" name="Text 8"/>
          <p:cNvSpPr/>
          <p:nvPr/>
        </p:nvSpPr>
        <p:spPr>
          <a:xfrm>
            <a:off x="6565392" y="2606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ФИЛЬТРОМ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83096" y="2980944"/>
            <a:ext cx="5239512" cy="2816352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pic>
        <p:nvPicPr>
          <p:cNvPr id="13" name="Image 1" descr="C:/Users/sssol/AppData/Local/Temp/claude/C--DL-for-CV/28917430-7293-4c75-9434-84bc2214ec98/scratchpad/frames/zoom_best_idx02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063240"/>
            <a:ext cx="5074920" cy="2651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58521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D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Рамки-двойники → «фантомные» люди, прыгающие номера.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565392" y="58521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C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одной чистой рамке на человека — номера держатся.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входе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аудит модернизированного DeepSORT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48486" cy="402336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1484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сломалось: модернизация молча выключила «стража»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 DeepSORT отсеивал слабые и дублирующие рамки до трекера. Новый «потоковый» детектор подключили без этого фильтра — и ложные срабатывания стали порождать фантомные треки.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22860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(рамки)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3520440"/>
            <a:ext cx="640080" cy="0"/>
          </a:xfrm>
          <a:prstGeom prst="line">
            <a:avLst/>
          </a:prstGeom>
          <a:noFill/>
          <a:ln w="317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40480" y="29718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BE3E0"/>
          </a:solidFill>
          <a:ln w="25400">
            <a:solidFill>
              <a:srgbClr val="DD4B3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840480" y="2971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4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СТРАЖ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D4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выключен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3520440"/>
            <a:ext cx="640080" cy="0"/>
          </a:xfrm>
          <a:prstGeom prst="line">
            <a:avLst/>
          </a:prstGeom>
          <a:noFill/>
          <a:ln w="317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92240" y="2971800"/>
            <a:ext cx="4206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9718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трека + 2 фантома 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22860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572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(рамки)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08960" y="5120640"/>
            <a:ext cx="640080" cy="0"/>
          </a:xfrm>
          <a:prstGeom prst="line">
            <a:avLst/>
          </a:prstGeom>
          <a:noFill/>
          <a:ln w="317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40480" y="45720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DEF4F0"/>
          </a:solidFill>
          <a:ln w="25400">
            <a:solidFill>
              <a:srgbClr val="17B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5720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75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СТРАЖ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C75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включён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5120640"/>
            <a:ext cx="640080" cy="0"/>
          </a:xfrm>
          <a:prstGeom prst="line">
            <a:avLst/>
          </a:prstGeom>
          <a:noFill/>
          <a:ln w="317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92240" y="4572000"/>
            <a:ext cx="4206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45720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чистых трека 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детектор, то же ядро. Разница — только в политике допуска рамок.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входе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аудит модернизированного DeepSORT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34794" cy="402336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2347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 ·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ниже фильтр — тем хуже. И так на всех 6 видео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965960"/>
            <a:ext cx="3794760" cy="429768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22860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C75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7955280" y="3291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ведут себя одинаково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0" y="4023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Опускаем порог → впускаем слабые рамки → </a:t>
            </a:r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D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не растёт, а на трудных сценах резко падает.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входе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аудит модернизированного DeepSORT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34794" cy="402336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2347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 ·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точнее детектор — тем меньше ущерб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57784" y="1929384"/>
            <a:ext cx="5102352" cy="409651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pic>
        <p:nvPicPr>
          <p:cNvPr id="6" name="Image 0" descr="C:/Users/sssol/AppData/Local/Temp/claude/C--DL-for-CV/28917430-7293-4c75-9434-84bc2214ec98/scratchpad/assets/fig_money_plot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493776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210312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«График-улика»: горизонталь — точность детектора на ролике, вертикаль — сколько качества теряется без фильтра.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943600" y="3429000"/>
            <a:ext cx="5605272" cy="1371600"/>
          </a:xfrm>
          <a:prstGeom prst="roundRect">
            <a:avLst>
              <a:gd name="adj" fmla="val 6000"/>
            </a:avLst>
          </a:prstGeom>
          <a:solidFill>
            <a:srgbClr val="0E1A2B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35661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9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−0.91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595360" y="35661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обратная связь: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точность → больше ущерб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43600" y="49834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i="1" dirty="0">
                <a:solidFill>
                  <a:srgbClr val="E0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Честно: </a:t>
            </a:r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6 роликов — это наблюдение-гипотеза, а не закон. Но направление однозначное на каждом из них.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входе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аудит модернизированного DeepSORT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48486" cy="402336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1484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ЛЕЧЕНИЕ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Вернуть «стража» — и настроить под каждый ролик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6126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95160" y="2011680"/>
            <a:ext cx="45720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69480" y="22402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Вернули фильтр — качество на плотных роликах восстановилось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69480" y="30632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+3.4 </a:t>
            </a:r>
            <a:pPr indent="0" marL="0"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качества в среднем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95160" y="4069080"/>
            <a:ext cx="4572000" cy="1965960"/>
          </a:xfrm>
          <a:prstGeom prst="roundRect">
            <a:avLst>
              <a:gd name="adj" fmla="val 4186"/>
            </a:avLst>
          </a:prstGeom>
          <a:solidFill>
            <a:srgbClr val="0E1A2B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69480" y="425196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под ролик — и худшее видео из аутсайдера выходит в плюс: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269480" y="5074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D4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−4.7</a:t>
            </a:r>
            <a:pPr algn="ctr" indent="0" marL="0">
              <a:buNone/>
            </a:pPr>
            <a:r>
              <a:rPr lang="en-US" sz="2000" dirty="0">
                <a:solidFill>
                  <a:srgbClr val="9DB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pPr algn="ctr" indent="0" marL="0">
              <a:buNone/>
            </a:pPr>
            <a:r>
              <a:rPr lang="en-US" sz="3000" b="1" dirty="0">
                <a:solidFill>
                  <a:srgbClr val="17B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+6.4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входе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аудит модернизированного DeepSORT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E090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не новый трекер. Это — аудит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изобрели фильтр. 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Современные трекеры (ByteTrack, BoT-SORT и другие) уже держат его как обычную настройку. Наш вклад — показать, что при «рутинной модернизации» этот страж легко выключить молча, а счёт за это большой, но невидимый в среднем числе.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20344A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4480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7B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«починка ради похвалы»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51206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честно показываем: фильтр уже был в методе — мы документируем, что его теряют.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425196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20344A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4480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7B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Отличие от ByteTrack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6280" y="51206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 слабые рамки лишь дополняют существующие треки; здесь они заводят фантомные новые.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00416" y="425196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20344A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56448" y="4480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7B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это всем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56448" y="51206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Любую систему из «деталей» можно сломать, обновив одну деталь и забыв правило на входе.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входе</a:t>
            </a:r>
            <a:pPr algn="l" indent="0" marL="0">
              <a:buNone/>
            </a:pPr>
            <a:r>
              <a:rPr lang="en-US" sz="9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аудит модернизированного DeepSORT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44752" cy="402336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БОНУС-ФАКТ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взялась прибавка? Почти вся — от «глаза»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один неинтуитивный вывод: улучшение пришло от детектора, а не от «памяти на лица».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Вклад в прирост качества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двигает качество вдвое сильнее «памяти».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06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75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05840" y="49560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(DetA)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4206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20440" y="49560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(AssA)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559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в качество (HOTA) на сборке MOT16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2788920"/>
            <a:ext cx="52120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2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 «идеальными» рамками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35204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модель «с полки» почти догоняет специальную для людей.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0840" y="4206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C75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89.9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720840" y="49560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спец. (OSNet)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35440" y="4206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89.2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235440" y="49560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«с полки»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5559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&lt; 1 балла — «память» почти бесплатна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входе</a:t>
            </a:r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аудит модернизированного DeepSORT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17B3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Больше данных ≠ лучше.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Качество входа важнее количества.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Обновляя одну деталь системы, проверяйте правила на входе: то, что вы молча выключили, может стоить дороже того, что вы улучшили.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B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5166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HOTA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(было 40.2)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4526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B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5166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видео: фильтр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помогает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4526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B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−0.91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5166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предсказывает ущерб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0" y="4526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B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69680" y="5166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худший ролик —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минуса в плюс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«Precision at the Gate»</a:t>
            </a:r>
            <a:pPr algn="l" indent="0" marL="0">
              <a:buNone/>
            </a:pPr>
            <a:r>
              <a:rPr lang="en-US" sz="1200" dirty="0">
                <a:solidFill>
                  <a:srgbClr val="9D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код и статья: github.com/SergeySolovyev/Modernized-DeepSORT   ·   Сергей Соловьёв, НИУ ВШЭ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Tochnost na vhode</dc:title>
  <dc:subject>PptxGenJS Presentation</dc:subject>
  <dc:creator>Sergei Solovev</dc:creator>
  <cp:lastModifiedBy>Sergei Solovev</cp:lastModifiedBy>
  <cp:revision>1</cp:revision>
  <dcterms:created xsi:type="dcterms:W3CDTF">2026-06-27T15:22:02Z</dcterms:created>
  <dcterms:modified xsi:type="dcterms:W3CDTF">2026-06-27T15:22:02Z</dcterms:modified>
</cp:coreProperties>
</file>